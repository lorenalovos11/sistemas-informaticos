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C00866-D9BD-4A93-B20E-DB65DEE5BB26}">
  <a:tblStyle styleId="{11C00866-D9BD-4A93-B20E-DB65DEE5BB2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Inter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21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Relationship Id="rId8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0543" y="2029866"/>
            <a:ext cx="3490912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591841"/>
            <a:ext cx="11601450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Documentación de Sistemas Informáticos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961358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Bachillerato Técnico Vocacional en Desarrollo de Software — Módulo 3.4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485233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Guías de Trabajo Semanales: Etapas 3 y 4 (Decidir y Ejecutar) | Prof. Juan Francisco Hernández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765708" y="2438400"/>
            <a:ext cx="4660582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Etapa 3: Decidir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0" y="3600450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109912" y="4019550"/>
            <a:ext cx="5972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"Definir la estrategia documental antes de escribir una sola línea"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9343"/>
            <a:ext cx="3524250" cy="2928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369343"/>
            <a:ext cx="3524250" cy="2928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369343"/>
            <a:ext cx="3524250" cy="292893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809625" y="3264693"/>
            <a:ext cx="3200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IEEE 829-2008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09625" y="3693318"/>
            <a:ext cx="3048000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Establece la estructura técnica normalizada para documentación y pruebas, garantizando integridad, trazabilidad y control de calidad durante todo el ciclo del software.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572000" y="3264693"/>
            <a:ext cx="3200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ISO/IEC 26514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572000" y="3693318"/>
            <a:ext cx="3048000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Regula el diseño centrado en el usuario, exigiendo estructura clara, consistencia formal, navegación intuitiva y lenguaje adaptado para manuales de software.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334375" y="3264693"/>
            <a:ext cx="3200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Calidad e Impacto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334375" y="3693318"/>
            <a:ext cx="3048000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Estandarizar la documentación en El Salvador asegura calidad técnica, facilidad de mantenimiento y profesionalismo compatible con normativas internacionales.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683668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0" y="2683668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34375" y="2683668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Investigación Normativa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" name="Google Shape;120;p16"/>
          <p:cNvGraphicFramePr/>
          <p:nvPr/>
        </p:nvGraphicFramePr>
        <p:xfrm>
          <a:off x="571500" y="1943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{11C00866-D9BD-4A93-B20E-DB65DEE5BB26}</a:tableStyleId>
              </a:tblPr>
              <a:tblGrid>
                <a:gridCol w="1578475"/>
                <a:gridCol w="3198325"/>
                <a:gridCol w="3231950"/>
                <a:gridCol w="3040250"/>
              </a:tblGrid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Criterio Evaluado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Norma (ISO 26514 / IEEE 829)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Manual Microsoft 365 (Bueno)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Manual GitHub Traducido (Malo)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Estructura y Orden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Índices, secciones secuenciales y flujo jerárquico.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Navegación por categorías y búsqueda inteligente.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Secciones desordenadas o inexistentes.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Lenguaje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Claro, conciso y orientado al perfil del usuario.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Tono no experto, amigable y explicativo.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Traducción literal incoherente y jerga confusa.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Apoyo Visual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Capturas de pantalla con formato normado.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Capturas de alta calidad y diagramas interactivos.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Sin imágenes o con elementos irrelevantes.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Manejo de Errores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Pautas paso a paso para resolver fallos comunes.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Solucionador de problemas y FAQs claras.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Ignora errores o da instrucciones erróneas.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21;p16"/>
          <p:cNvSpPr/>
          <p:nvPr/>
        </p:nvSpPr>
        <p:spPr>
          <a:xfrm>
            <a:off x="571500" y="2662237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2149971" y="2662237"/>
            <a:ext cx="31983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348287" y="2662237"/>
            <a:ext cx="32319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8580239" y="2662237"/>
            <a:ext cx="30402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71500" y="3424237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2149971" y="3424237"/>
            <a:ext cx="31983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348287" y="3424237"/>
            <a:ext cx="32319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8580239" y="3424237"/>
            <a:ext cx="30402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71500" y="4186237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2149971" y="4186237"/>
            <a:ext cx="31983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348287" y="4186237"/>
            <a:ext cx="32319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8580239" y="4186237"/>
            <a:ext cx="30402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4948237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149971" y="4948237"/>
            <a:ext cx="31983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348287" y="4948237"/>
            <a:ext cx="32319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8580239" y="4948237"/>
            <a:ext cx="30402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71500" y="5710237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2149971" y="5710237"/>
            <a:ext cx="31983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348287" y="5710237"/>
            <a:ext cx="32319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8580239" y="5710237"/>
            <a:ext cx="30402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Comparativa de Manuales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81300"/>
            <a:ext cx="53340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81300"/>
            <a:ext cx="53340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866775" y="3076575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Perfiles de Usuario (User Personas)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66775" y="3505200"/>
            <a:ext cx="47434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Identificación de perfiles clave (Usuario Principal, Administrador Técnico y Cliente Final) evaluando su nivel técnico, hábitos tecnológicos, edad y frecuencia de uso del sistema.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581775" y="3076575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Matriz de Necesidades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581775" y="3505200"/>
            <a:ext cx="47434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Definición del formato ideal según el perfil: manuales PDF imprimibles para administradores, guías interactivas/video para usuarios finales y resúmenes ejecutivos para directivos.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de Audiencias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476250"/>
            <a:ext cx="56007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Benchmarking Técnico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1285875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Evaluación de Herramientas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1714500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Análisis riguroso de capturadores de pantalla, procesadores de texto, editores de video y software de diseño visual.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2314575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meta es construir un conjunto tecnológico eficiente para producir documentación clara, atractiva y estandarizada.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19"/>
          <p:cNvGraphicFramePr/>
          <p:nvPr/>
        </p:nvGraphicFramePr>
        <p:xfrm>
          <a:off x="571500" y="1943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{11C00866-D9BD-4A93-B20E-DB65DEE5BB26}</a:tableStyleId>
              </a:tblPr>
              <a:tblGrid>
                <a:gridCol w="1348975"/>
                <a:gridCol w="1824025"/>
                <a:gridCol w="4194875"/>
                <a:gridCol w="3681125"/>
              </a:tblGrid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Categoría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Herramienta Elegida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Ventajas Clave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Justificación de Selección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Capturador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ShareX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Anotaciones inmediatas, automatización y formato PNG.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Rapidez para documentar flujos paso a paso.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Procesador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Microsoft Word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Gestión avanzada de estilos, índices y exportación a PDF.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Estándar en la institución y alta compatibilidad.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Editor Video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CapCut / OBS Studio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Edición ágil, grabación HD y exportación liviana.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Creación eficiente de videotutoriales.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Diseño Visual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Canva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Plantillas corporativas y edición de elementos intuitiva.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Asegura estética limpia sin complejidad excesiva.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19"/>
          <p:cNvSpPr/>
          <p:nvPr/>
        </p:nvSpPr>
        <p:spPr>
          <a:xfrm>
            <a:off x="571500" y="2662237"/>
            <a:ext cx="1348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1920478" y="2662237"/>
            <a:ext cx="1824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3744515" y="2662237"/>
            <a:ext cx="41948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7939385" y="2662237"/>
            <a:ext cx="36811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71500" y="3424237"/>
            <a:ext cx="1348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1920478" y="3424237"/>
            <a:ext cx="1824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744515" y="3424237"/>
            <a:ext cx="41948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939385" y="3424237"/>
            <a:ext cx="36811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571500" y="4186237"/>
            <a:ext cx="1348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1920478" y="4186237"/>
            <a:ext cx="1824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3744515" y="4186237"/>
            <a:ext cx="41948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7939385" y="4186237"/>
            <a:ext cx="36811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71500" y="4948237"/>
            <a:ext cx="1348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1920478" y="4948237"/>
            <a:ext cx="1824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3744515" y="4948237"/>
            <a:ext cx="41948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939385" y="4948237"/>
            <a:ext cx="36811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71500" y="5710237"/>
            <a:ext cx="1348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1920478" y="5710237"/>
            <a:ext cx="1824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3744515" y="5710237"/>
            <a:ext cx="41948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939385" y="5710237"/>
            <a:ext cx="36811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Matriz de Selección Tecnológica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35242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490787"/>
            <a:ext cx="35242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490787"/>
            <a:ext cx="352425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809625" y="3386137"/>
            <a:ext cx="3200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Estilos y Paleta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09625" y="3814762"/>
            <a:ext cx="30480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Máximo 2 fuentes legibles (Poppins/Inter) y combinación de 3 colores institucionales para mantener coherencia visual.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4572000" y="3386137"/>
            <a:ext cx="3200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Jerarquía de Texto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4572000" y="3814762"/>
            <a:ext cx="304800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Configuración de estilos automáticos (Título 1, Título 2, Texto Normal) para la generación automática del índice.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334375" y="3386137"/>
            <a:ext cx="3200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Cajas Informativas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334375" y="3814762"/>
            <a:ext cx="304800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Cajas de resaltado: Azul para Notas, Amarilla para Advertencias y Verde para Consejos prácticos.</a:t>
            </a:r>
            <a:endParaRPr/>
          </a:p>
        </p:txBody>
      </p:sp>
      <p:pic>
        <p:nvPicPr>
          <p:cNvPr descr="image.png" id="205" name="Google Shape;2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8051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0" y="28051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34375" y="28051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Matriz de Identidad Visual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1000125" y="3005137"/>
            <a:ext cx="106203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Resolución Mínima: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Capturas guardadas obligatoriamente en formato HD (1280x720) para evitar distorsiones.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1000125" y="3419475"/>
            <a:ext cx="106203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Formato Estándar: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Utilizar exclusivamente PNG para mantener alta nitidez en textos de pantalla.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1000125" y="3833812"/>
            <a:ext cx="106203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Anotaciones Normadas: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Usar únicamente flechas rojas para indicar acciones y recuadros amarillos para zonas de interés.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1000125" y="4248150"/>
            <a:ext cx="106203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Control de Calidad: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Prohibición estricta de imágenes borrosas, recortadas incorrectamente o con información sensible expuesta.</a:t>
            </a:r>
            <a:endParaRPr/>
          </a:p>
        </p:txBody>
      </p:sp>
      <p:pic>
        <p:nvPicPr>
          <p:cNvPr descr="image.png" id="218" name="Google Shape;2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194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337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481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6243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Reglas para Capturas de Pantalla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8" name="Google Shape;228;p22"/>
          <p:cNvGraphicFramePr/>
          <p:nvPr/>
        </p:nvGraphicFramePr>
        <p:xfrm>
          <a:off x="571500" y="1943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{11C00866-D9BD-4A93-B20E-DB65DEE5BB26}</a:tableStyleId>
              </a:tblPr>
              <a:tblGrid>
                <a:gridCol w="1638150"/>
                <a:gridCol w="4105425"/>
                <a:gridCol w="5305425"/>
              </a:tblGrid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Término Técnico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Significado Real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Traducción Clara al Usuario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Interfaz de comunicación entre dos sistemas informáticos.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 el conector que permite al sistema pedir y recibir datos de otro programa.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Copia de respaldo de los datos del sistema.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 una copia de seguridad para recuperar la información si ocurre un problema.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Trigger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Procedimiento automático disparado por un evento.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 una acción automática que se ejecuta sola cuando realizas un cambio.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Clave Foránea (FK)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Vínculo relacional entre dos tablas de la base de datos.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Permite conectar y relacionar la información de dos listas distintas.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29" name="Google Shape;229;p22"/>
          <p:cNvSpPr/>
          <p:nvPr/>
        </p:nvSpPr>
        <p:spPr>
          <a:xfrm>
            <a:off x="571500" y="2662237"/>
            <a:ext cx="1638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2209651" y="2662237"/>
            <a:ext cx="41054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6315075" y="2662237"/>
            <a:ext cx="5305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3424237"/>
            <a:ext cx="1638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2209651" y="3424237"/>
            <a:ext cx="41054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6315075" y="3424237"/>
            <a:ext cx="5305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71500" y="4186237"/>
            <a:ext cx="1638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2209651" y="4186237"/>
            <a:ext cx="41054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6315075" y="4186237"/>
            <a:ext cx="5305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71500" y="4948237"/>
            <a:ext cx="1638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2209651" y="4948237"/>
            <a:ext cx="41054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315075" y="4948237"/>
            <a:ext cx="5305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571500" y="5710237"/>
            <a:ext cx="1638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2209651" y="5710237"/>
            <a:ext cx="41054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6315075" y="5710237"/>
            <a:ext cx="5305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Conversión de Lenguaje Técnico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2743"/>
            <a:ext cx="5334000" cy="1862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902743"/>
            <a:ext cx="5334000" cy="186213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866775" y="3198018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Glosario de Términos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866775" y="3626643"/>
            <a:ext cx="47434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Compilado de 10 definiciones breves (máximo 2 líneas) adaptadas para el perfil de usuario con bajo nivel técnico, evitando tecnicismos innecesarios.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581775" y="3198018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Validación con Pares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6581775" y="3626643"/>
            <a:ext cx="47434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Prueba de lecturabilidad realizada leyendo oraciones reescritas a compañeros ajenos al desarrollo para verificar que las instrucciones sean inmediatamente comprensibles.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Glosario y Pruebas de Lenguaje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950"/>
            <a:ext cx="110490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295275" y="47625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571500" y="16478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Estrategia Documental del Módulo 3.4 completada exitosamente.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425" y="35956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2209800" y="3602831"/>
            <a:ext cx="88677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https://www.anl.gov/sites/www/files/styles/article_teaser_16x9/public/2023-11/16x9_VIZ%20LAB_SCREENSHOT_008.jpg?h=8abcec71&amp;itok=m4dEdu9p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2209800" y="3836193"/>
            <a:ext cx="8867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www.anl.gov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